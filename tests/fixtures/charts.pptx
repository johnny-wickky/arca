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1"/>
    <p:sldId id="257" r:id="rId12"/>
  </p:sldIdLst>
  <p:sldSz cx="12192000" cy="6858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p>
            <a:pPr>
              <a:defRPr sz="1400" b="0"/>
            </a:pPr>
            <a:r>
              <a:rPr lang="en-US" sz="1400"/>
              <a:t>Sales by month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4472C4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42</c:v>
                </c:pt>
                <c:pt idx="2">
                  <c:v>38</c:v>
                </c:pt>
                <c:pt idx="3">
                  <c:v>55</c:v>
                </c:pt>
                <c:pt idx="4">
                  <c:v>61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Fact</c:v>
                </c:pt>
              </c:strCache>
            </c:strRef>
          </c:tx>
          <c:spPr>
            <a:solidFill>
              <a:srgbClr val="ED7D31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28</c:v>
                </c:pt>
                <c:pt idx="1">
                  <c:v>45</c:v>
                </c:pt>
                <c:pt idx="2">
                  <c:v>33</c:v>
                </c:pt>
                <c:pt idx="3">
                  <c:v>58</c:v>
                </c:pt>
                <c:pt idx="4">
                  <c:v>70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Last year</c:v>
                </c:pt>
              </c:strCache>
            </c:strRef>
          </c:tx>
          <c:spPr>
            <a:solidFill>
              <a:srgbClr val="A5A5A5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20</c:v>
                </c:pt>
                <c:pt idx="1">
                  <c:v>25</c:v>
                </c:pt>
                <c:pt idx="2">
                  <c:v>31</c:v>
                </c:pt>
                <c:pt idx="3">
                  <c:v>40</c:v>
                </c:pt>
                <c:pt idx="4">
                  <c:v>44</c:v>
                </c:pt>
              </c:numCache>
            </c:numRef>
          </c:val>
        </c:ser>
        <c:gapWidth val="150"/>
        <c:axId val="111"/>
        <c:axId val="222"/>
      </c:barChart>
      <c:catAx>
        <c:axId val="1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222"/>
        <c:crosses val="autoZero"/>
        <c:auto val="1"/>
        <c:lblAlgn val="ctr"/>
        <c:lblOffset val="100"/>
        <c:noMultiLvlLbl val="0"/>
      </c:catAx>
      <c:valAx>
        <c:axId val="222"/>
        <c:scaling>
          <c:orientation val="minMax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crossAx val="11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en-US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p>
            <a:pPr>
              <a:defRPr sz="1400" b="0"/>
            </a:pPr>
            <a:r>
              <a:rPr lang="en-US" sz="1400"/>
              <a:t>Stacked bars</a:t>
            </a:r>
          </a:p>
        </c:rich>
      </c:tx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Север</c:v>
                </c:pt>
              </c:strCache>
            </c:strRef>
          </c:tx>
          <c:invertIfNegative val="0"/>
          <c:dLbls>
            <c:spPr>
              <a:noFill/>
            </c:spPr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18</c:v>
                </c:pt>
                <c:pt idx="2">
                  <c:v>9</c:v>
                </c:pt>
                <c:pt idx="3">
                  <c:v>22</c:v>
                </c:pt>
                <c:pt idx="4">
                  <c:v>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Юг</c:v>
                </c:pt>
              </c:strCache>
            </c:strRef>
          </c:tx>
          <c:invertIfNegative val="0"/>
          <c:dLbls>
            <c:spPr>
              <a:noFill/>
            </c:spPr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</c:v>
                </c:pt>
                <c:pt idx="1">
                  <c:v>11</c:v>
                </c:pt>
                <c:pt idx="2">
                  <c:v>14</c:v>
                </c:pt>
                <c:pt idx="3">
                  <c:v>10</c:v>
                </c:pt>
                <c:pt idx="4">
                  <c:v>19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Запад</c:v>
                </c:pt>
              </c:strCache>
            </c:strRef>
          </c:tx>
          <c:invertIfNegative val="0"/>
          <c:dLbls>
            <c:spPr>
              <a:noFill/>
            </c:spPr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9</c:v>
                </c:pt>
                <c:pt idx="4">
                  <c:v>12</c:v>
                </c:pt>
              </c:numCache>
            </c:numRef>
          </c:val>
        </c:ser>
        <c:gapWidth val="60"/>
        <c:overlap val="100"/>
        <c:axId val="111"/>
        <c:axId val="222"/>
      </c:barChart>
      <c:catAx>
        <c:axId val="11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crossAx val="222"/>
        <c:crosses val="autoZero"/>
        <c:auto val="1"/>
        <c:lblAlgn val="ctr"/>
        <c:lblOffset val="100"/>
        <c:noMultiLvlLbl val="0"/>
      </c:catAx>
      <c:valAx>
        <c:axId val="222"/>
        <c:scaling>
          <c:orientation val="minMax"/>
        </c:scaling>
        <c:delete val="0"/>
        <c:axPos val="b"/>
        <c:majorGridlines>
          <c:spPr>
            <a:ln w="9525">
              <a:solidFill>
                <a:srgbClr val="D9D9D9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crossAx val="111"/>
        <c:crosses val="autoZero"/>
        <c:crossBetween val="between"/>
      </c:valAx>
    </c:plotArea>
    <c:legend>
      <c:legendPos val="r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en-US"/>
    </a:p>
  </c:tx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p>
            <a:pPr>
              <a:defRPr sz="1400" b="0"/>
            </a:pPr>
            <a:r>
              <a:rPr lang="en-US" sz="1400"/>
              <a:t>Traffic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Visitors</c:v>
                </c:pt>
              </c:strCache>
            </c:strRef>
          </c:tx>
          <c:spPr>
            <a:ln w="28575" cap="rnd">
              <a:solidFill>
                <a:srgbClr val="4472C4"/>
              </a:solidFill>
              <a:round/>
            </a:ln>
          </c:spPr>
          <c:marker>
            <c:symbol val="circle"/>
            <c:size val="5"/>
          </c:marker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</c:v>
                </c:pt>
                <c:pt idx="1">
                  <c:v>150</c:v>
                </c:pt>
                <c:pt idx="2">
                  <c:v>135</c:v>
                </c:pt>
                <c:pt idx="3">
                  <c:v>180</c:v>
                </c:pt>
                <c:pt idx="4">
                  <c:v>210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Buyers</c:v>
                </c:pt>
              </c:strCache>
            </c:strRef>
          </c:tx>
          <c:spPr>
            <a:ln w="28575" cap="rnd">
              <a:solidFill>
                <a:srgbClr val="ED7D31"/>
              </a:solidFill>
              <a:round/>
            </a:ln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30</c:v>
                </c:pt>
                <c:pt idx="1">
                  <c:v>45</c:v>
                </c:pt>
                <c:pt idx="3">
                  <c:v>70</c:v>
                </c:pt>
                <c:pt idx="4">
                  <c:v>95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Trend</c:v>
                </c:pt>
              </c:strCache>
            </c:strRef>
          </c:tx>
          <c:spPr>
            <a:ln w="28575" cap="rnd">
              <a:solidFill>
                <a:srgbClr val="70AD47"/>
              </a:solidFill>
              <a:round/>
            </a:ln>
          </c:spPr>
          <c:marker>
            <c:symbol val="none"/>
          </c:marker>
          <c:smooth val="1"/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100</c:v>
                </c:pt>
                <c:pt idx="1">
                  <c:v>140</c:v>
                </c:pt>
                <c:pt idx="2">
                  <c:v>150</c:v>
                </c:pt>
                <c:pt idx="3">
                  <c:v>170</c:v>
                </c:pt>
                <c:pt idx="4">
                  <c:v>200</c:v>
                </c:pt>
              </c:numCache>
            </c:numRef>
          </c:val>
        </c:ser>
        <c:marker val="1"/>
        <c:axId val="111"/>
        <c:axId val="222"/>
      </c:lineChart>
      <c:catAx>
        <c:axId val="1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222"/>
        <c:crosses val="autoZero"/>
        <c:auto val="1"/>
        <c:lblAlgn val="ctr"/>
        <c:lblOffset val="100"/>
        <c:noMultiLvlLbl val="0"/>
      </c:catAx>
      <c:valAx>
        <c:axId val="222"/>
        <c:scaling>
          <c:orientation val="minMax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crossAx val="11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en-US"/>
    </a:p>
  </c:tx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p>
            <a:pPr>
              <a:defRPr sz="1400" b="0"/>
            </a:pPr>
            <a:r>
              <a:rPr lang="en-US" sz="1400"/>
              <a:t>Areas</a:t>
            </a:r>
          </a:p>
        </c:rich>
      </c:tx>
      <c:overlay val="0"/>
    </c:title>
    <c:autoTitleDeleted val="0"/>
    <c:plotArea>
      <c:layout/>
      <c:area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Север</c:v>
                </c:pt>
              </c:strCache>
            </c:strRef>
          </c:tx>
          <c:invertIfNegative val="0"/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18</c:v>
                </c:pt>
                <c:pt idx="2">
                  <c:v>9</c:v>
                </c:pt>
                <c:pt idx="3">
                  <c:v>22</c:v>
                </c:pt>
                <c:pt idx="4">
                  <c:v>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Юг</c:v>
                </c:pt>
              </c:strCache>
            </c:strRef>
          </c:tx>
          <c:invertIfNegative val="0"/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</c:v>
                </c:pt>
                <c:pt idx="1">
                  <c:v>11</c:v>
                </c:pt>
                <c:pt idx="2">
                  <c:v>14</c:v>
                </c:pt>
                <c:pt idx="3">
                  <c:v>10</c:v>
                </c:pt>
                <c:pt idx="4">
                  <c:v>19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Запад</c:v>
                </c:pt>
              </c:strCache>
            </c:strRef>
          </c:tx>
          <c:invertIfNegative val="0"/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9</c:v>
                </c:pt>
                <c:pt idx="4">
                  <c:v>12</c:v>
                </c:pt>
              </c:numCache>
            </c:numRef>
          </c:val>
        </c:ser>
        <c:axId val="111"/>
        <c:axId val="222"/>
      </c:areaChart>
      <c:catAx>
        <c:axId val="1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222"/>
        <c:crosses val="autoZero"/>
        <c:auto val="1"/>
        <c:lblAlgn val="ctr"/>
        <c:lblOffset val="100"/>
        <c:noMultiLvlLbl val="0"/>
      </c:catAx>
      <c:valAx>
        <c:axId val="222"/>
        <c:scaling>
          <c:orientation val="minMax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General" sourceLinked="1"/>
        <c:majorTickMark val="none"/>
        <c:minorTickMark val="none"/>
        <c:tickLblPos val="nextTo"/>
        <c:crossAx val="111"/>
        <c:crosses val="autoZero"/>
        <c:crossBetween val="midCat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en-US"/>
    </a:p>
  </c:tx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p>
            <a:pPr>
              <a:defRPr sz="1400" b="0"/>
            </a:pPr>
            <a:r>
              <a:rPr lang="en-US" sz="1400"/>
              <a:t>Share by region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Lbls>
            <c:spPr>
              <a:noFill/>
            </c:spPr>
            <c:showLegendKey val="0"/>
            <c:showVal val="0"/>
            <c:showCatName val="0"/>
            <c:showSerName val="0"/>
            <c:showPercent val="1"/>
            <c:showBubbleSize val="0"/>
          </c:dLbls>
          <c:cat>
            <c:strRef>
              <c:f>Sheet1!$A$2:$A$5</c:f>
              <c:strCache>
                <c:ptCount val="4"/>
                <c:pt idx="0">
                  <c:v>Север</c:v>
                </c:pt>
                <c:pt idx="1">
                  <c:v>Юг</c:v>
                </c:pt>
                <c:pt idx="2">
                  <c:v>Запад</c:v>
                </c:pt>
                <c:pt idx="3">
                  <c:v>Восток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27</c:v>
                </c:pt>
                <c:pt idx="2">
                  <c:v>21</c:v>
                </c:pt>
                <c:pt idx="3">
                  <c:v>14</c:v>
                </c:pt>
              </c:numCache>
            </c:numRef>
          </c:val>
        </c:ser>
        <c:firstSliceAng val="0"/>
      </c:pieChart>
    </c:plotArea>
    <c:legend>
      <c:legendPos val="r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en-US"/>
    </a:p>
  </c:tx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p>
            <a:pPr>
              <a:defRPr sz="1400" b="0"/>
            </a:pPr>
            <a:r>
              <a:rPr lang="en-US" sz="1400"/>
              <a:t>Doughnut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bubble3D val="0"/>
            <c:spPr>
              <a:solidFill>
                <a:srgbClr val="264478"/>
              </a:solidFill>
            </c:spPr>
          </c:dPt>
          <c:dPt>
            <c:idx val="1"/>
            <c:bubble3D val="0"/>
            <c:spPr>
              <a:solidFill>
                <a:srgbClr val="9E480E"/>
              </a:solidFill>
            </c:spPr>
          </c:dPt>
          <c:dPt>
            <c:idx val="2"/>
            <c:bubble3D val="0"/>
            <c:spPr>
              <a:solidFill>
                <a:srgbClr val="636363"/>
              </a:solidFill>
            </c:spPr>
          </c:dPt>
          <c:dPt>
            <c:idx val="3"/>
            <c:bubble3D val="0"/>
            <c:spPr>
              <a:solidFill>
                <a:srgbClr val="997300"/>
              </a:solidFill>
            </c:spPr>
          </c:dPt>
          <c:dLbls>
            <c:spPr>
              <a:noFill/>
            </c:spPr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Север</c:v>
                </c:pt>
                <c:pt idx="1">
                  <c:v>Юг</c:v>
                </c:pt>
                <c:pt idx="2">
                  <c:v>Запад</c:v>
                </c:pt>
                <c:pt idx="3">
                  <c:v>Восток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27</c:v>
                </c:pt>
                <c:pt idx="2">
                  <c:v>21</c:v>
                </c:pt>
                <c:pt idx="3">
                  <c:v>14</c:v>
                </c:pt>
              </c:numCache>
            </c:numRef>
          </c:val>
        </c:ser>
        <c:firstSliceAng val="90"/>
        <c:holeSize val="55"/>
      </c:doughnutChart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en-US"/>
    </a:p>
  </c:tx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Север</c:v>
                </c:pt>
              </c:strCache>
            </c:strRef>
          </c:tx>
          <c:invertIfNegative val="0"/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18</c:v>
                </c:pt>
                <c:pt idx="2">
                  <c:v>9</c:v>
                </c:pt>
                <c:pt idx="3">
                  <c:v>22</c:v>
                </c:pt>
                <c:pt idx="4">
                  <c:v>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Юг</c:v>
                </c:pt>
              </c:strCache>
            </c:strRef>
          </c:tx>
          <c:invertIfNegative val="0"/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</c:v>
                </c:pt>
                <c:pt idx="1">
                  <c:v>11</c:v>
                </c:pt>
                <c:pt idx="2">
                  <c:v>14</c:v>
                </c:pt>
                <c:pt idx="3">
                  <c:v>10</c:v>
                </c:pt>
                <c:pt idx="4">
                  <c:v>19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Запад</c:v>
                </c:pt>
              </c:strCache>
            </c:strRef>
          </c:tx>
          <c:invertIfNegative val="0"/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9</c:v>
                </c:pt>
                <c:pt idx="4">
                  <c:v>12</c:v>
                </c:pt>
              </c:numCache>
            </c:numRef>
          </c:val>
        </c:ser>
        <c:gapWidth val="50"/>
        <c:overlap val="100"/>
        <c:axId val="111"/>
        <c:axId val="222"/>
      </c:barChart>
      <c:catAx>
        <c:axId val="111"/>
        <c:scaling>
          <c:orientation val="minMax"/>
        </c:scaling>
        <c:delete val="0"/>
        <c:axPos val="b"/>
        <c:title>
          <c:tx>
            <c:rich>
              <a:bodyPr/>
              <a:p>
                <a:r>
                  <a:t>Month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crossAx val="222"/>
        <c:crosses val="autoZero"/>
        <c:auto val="1"/>
        <c:lblAlgn val="ctr"/>
        <c:lblOffset val="100"/>
        <c:noMultiLvlLbl val="0"/>
      </c:catAx>
      <c:valAx>
        <c:axId val="222"/>
        <c:scaling>
          <c:orientation val="minMax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title>
          <c:tx>
            <c:rich>
              <a:bodyPr/>
              <a:p>
                <a:r>
                  <a:t>Share of sales</a:t>
                </a:r>
              </a:p>
            </c:rich>
          </c:tx>
          <c:overlay val="0"/>
        </c:title>
        <c:numFmt formatCode="0%" sourceLinked="0"/>
        <c:majorTickMark val="none"/>
        <c:minorTickMark val="none"/>
        <c:tickLblPos val="nextTo"/>
        <c:crossAx val="111"/>
        <c:crosses val="autoZero"/>
        <c:crossBetween val="between"/>
      </c:valAx>
    </c:plotArea>
    <c:legend>
      <c:legendPos val="b"/>
      <c:overlay val="0"/>
    </c:legend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en-US"/>
    </a:p>
  </c:tx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p>
            <a:pPr>
              <a:defRPr sz="1400" b="0"/>
            </a:pPr>
            <a:r>
              <a:rPr lang="en-US" sz="1400"/>
              <a:t>Profit, M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rgbClr val="70AD47"/>
            </a:solidFill>
          </c:spPr>
          <c:invertIfNegative val="0"/>
          <c:dLbls>
            <c:numFmt formatCode="0.0" sourceLinked="0"/>
            <c:spPr>
              <a:noFill/>
            </c:spPr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</c:strCache>
            </c:strRef>
          </c:cat>
          <c:val>
            <c:numRef>
              <c:f>Sheet1!$B$2:$B$6</c:f>
              <c:numCache>
                <c:formatCode>0.0</c:formatCode>
                <c:ptCount val="5"/>
                <c:pt idx="0">
                  <c:v>12.5</c:v>
                </c:pt>
                <c:pt idx="1">
                  <c:v>-4.2</c:v>
                </c:pt>
                <c:pt idx="2">
                  <c:v>8.8</c:v>
                </c:pt>
                <c:pt idx="3">
                  <c:v>-1.5</c:v>
                </c:pt>
                <c:pt idx="4">
                  <c:v>15.1</c:v>
                </c:pt>
              </c:numCache>
            </c:numRef>
          </c:val>
        </c:ser>
        <c:gapWidth val="150"/>
        <c:axId val="111"/>
        <c:axId val="222"/>
      </c:barChart>
      <c:catAx>
        <c:axId val="1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crossAx val="222"/>
        <c:crosses val="autoZero"/>
        <c:auto val="1"/>
        <c:lblAlgn val="ctr"/>
        <c:lblOffset val="100"/>
        <c:noMultiLvlLbl val="0"/>
      </c:catAx>
      <c:valAx>
        <c:axId val="222"/>
        <c:scaling>
          <c:orientation val="minMax"/>
          <c:max val="20"/>
          <c:min val="-10"/>
        </c:scaling>
        <c:delete val="0"/>
        <c:axPos val="l"/>
        <c:majorGridlines>
          <c:spPr>
            <a:ln w="9525">
              <a:solidFill>
                <a:srgbClr val="D9D9D9"/>
              </a:solidFill>
            </a:ln>
          </c:spPr>
        </c:majorGridlines>
        <c:numFmt formatCode="0" sourceLinked="0"/>
        <c:majorTickMark val="none"/>
        <c:minorTickMark val="none"/>
        <c:tickLblPos val="nextTo"/>
        <c:crossAx val="111"/>
        <c:crosses val="autoZero"/>
        <c:crossBetween val="between"/>
        <c:majorUnit val="5"/>
      </c:valAx>
    </c:plotArea>
    <c:plotVisOnly val="1"/>
    <c:dispBlanksAs val="gap"/>
  </c:chart>
  <c:spPr>
    <a:noFill/>
    <a:ln>
      <a:noFill/>
    </a:ln>
  </c:spPr>
  <c:txPr>
    <a:bodyPr/>
    <a:lstStyle/>
    <a:p>
      <a:pPr>
        <a:defRPr sz="1000"/>
      </a:pPr>
      <a:endParaRPr lang="en-US"/>
    </a:p>
  </c:txPr>
</c:chartSpace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chart" Target="../charts/chart1.xml"/><Relationship Id="rId11" Type="http://schemas.openxmlformats.org/officeDocument/2006/relationships/chart" Target="../charts/chart2.xml"/><Relationship Id="rId12" Type="http://schemas.openxmlformats.org/officeDocument/2006/relationships/chart" Target="../charts/chart3.xml"/><Relationship Id="rId13" Type="http://schemas.openxmlformats.org/officeDocument/2006/relationships/chart" Target="../charts/chart4.xml"/><Relationship Id="rId14" Type="http://schemas.openxmlformats.org/officeDocument/2006/relationships/chart" Target="../charts/chart5.xml"/><Relationship Id="rId15" Type="http://schemas.openxmlformats.org/officeDocument/2006/relationships/chart" Target="../charts/chart6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chart" Target="../charts/chart7.xml"/><Relationship Id="rId11" Type="http://schemas.openxmlformats.org/officeDocument/2006/relationships/chart" Target="../charts/char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Sales by month"/>
          <p:cNvGraphicFramePr/>
          <p:nvPr/>
        </p:nvGraphicFramePr>
        <p:xfrm>
          <a:off x="100000" y="100000"/>
          <a:ext cx="3944000" cy="3279000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graphicFrame>
        <p:nvGraphicFramePr>
          <p:cNvPr id="3" name="Stacked bars"/>
          <p:cNvGraphicFramePr/>
          <p:nvPr/>
        </p:nvGraphicFramePr>
        <p:xfrm>
          <a:off x="4164000" y="100000"/>
          <a:ext cx="3944000" cy="3279000"/>
        </p:xfrm>
        <a:graphic>
          <a:graphicData uri="http://schemas.openxmlformats.org/drawingml/2006/chart">
            <c:chart xmlns:c="http://schemas.openxmlformats.org/drawingml/2006/chart" r:id="rId11"/>
          </a:graphicData>
        </a:graphic>
      </p:graphicFrame>
      <p:graphicFrame>
        <p:nvGraphicFramePr>
          <p:cNvPr id="4" name="Traffic"/>
          <p:cNvGraphicFramePr/>
          <p:nvPr/>
        </p:nvGraphicFramePr>
        <p:xfrm>
          <a:off x="8228000" y="100000"/>
          <a:ext cx="3944000" cy="3279000"/>
        </p:xfrm>
        <a:graphic>
          <a:graphicData uri="http://schemas.openxmlformats.org/drawingml/2006/chart">
            <c:chart xmlns:c="http://schemas.openxmlformats.org/drawingml/2006/chart" r:id="rId12"/>
          </a:graphicData>
        </a:graphic>
      </p:graphicFrame>
      <p:graphicFrame>
        <p:nvGraphicFramePr>
          <p:cNvPr id="5" name="Areas"/>
          <p:cNvGraphicFramePr/>
          <p:nvPr/>
        </p:nvGraphicFramePr>
        <p:xfrm>
          <a:off x="100000" y="3529000"/>
          <a:ext cx="3944000" cy="3279000"/>
        </p:xfrm>
        <a:graphic>
          <a:graphicData uri="http://schemas.openxmlformats.org/drawingml/2006/chart">
            <c:chart xmlns:c="http://schemas.openxmlformats.org/drawingml/2006/chart" r:id="rId13"/>
          </a:graphicData>
        </a:graphic>
      </p:graphicFrame>
      <p:graphicFrame>
        <p:nvGraphicFramePr>
          <p:cNvPr id="6" name="Pie"/>
          <p:cNvGraphicFramePr/>
          <p:nvPr/>
        </p:nvGraphicFramePr>
        <p:xfrm>
          <a:off x="4164000" y="3529000"/>
          <a:ext cx="3944000" cy="3279000"/>
        </p:xfrm>
        <a:graphic>
          <a:graphicData uri="http://schemas.openxmlformats.org/drawingml/2006/chart">
            <c:chart xmlns:c="http://schemas.openxmlformats.org/drawingml/2006/chart" r:id="rId14"/>
          </a:graphicData>
        </a:graphic>
      </p:graphicFrame>
      <p:graphicFrame>
        <p:nvGraphicFramePr>
          <p:cNvPr id="7" name="Doughnut"/>
          <p:cNvGraphicFramePr/>
          <p:nvPr/>
        </p:nvGraphicFramePr>
        <p:xfrm>
          <a:off x="8228000" y="3529000"/>
          <a:ext cx="3944000" cy="3279000"/>
        </p:xfrm>
        <a:graphic>
          <a:graphicData uri="http://schemas.openxmlformats.org/drawingml/2006/chart">
            <c:chart xmlns:c="http://schemas.openxmlformats.org/drawingml/2006/chart" r:id="rId15"/>
          </a:graphicData>
        </a:graphic>
      </p:graphicFrame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Percent"/>
          <p:cNvGraphicFramePr/>
          <p:nvPr/>
        </p:nvGraphicFramePr>
        <p:xfrm>
          <a:off x="200000" y="200000"/>
          <a:ext cx="5796000" cy="6458000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graphicFrame>
        <p:nvGraphicFramePr>
          <p:cNvPr id="3" name="Profit"/>
          <p:cNvGraphicFramePr/>
          <p:nvPr/>
        </p:nvGraphicFramePr>
        <p:xfrm>
          <a:off x="6196000" y="200000"/>
          <a:ext cx="5796000" cy="6458000"/>
        </p:xfrm>
        <a:graphic>
          <a:graphicData uri="http://schemas.openxmlformats.org/drawingml/2006/chart">
            <c:chart xmlns:c="http://schemas.openxmlformats.org/drawingml/2006/chart" r:id="rId11"/>
          </a:graphicData>
        </a:graphic>
      </p:graphicFrame>
    </p:spTree>
  </p:cSld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</a:themeElements>
</a:theme>
</file>